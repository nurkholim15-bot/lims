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70" r:id="rId4"/>
    <p:sldId id="266" r:id="rId5"/>
    <p:sldId id="268" r:id="rId6"/>
    <p:sldId id="267" r:id="rId7"/>
    <p:sldId id="269" r:id="rId8"/>
    <p:sldId id="264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00" autoAdjust="0"/>
  </p:normalViewPr>
  <p:slideViewPr>
    <p:cSldViewPr snapToGrid="0" snapToObjects="1">
      <p:cViewPr>
        <p:scale>
          <a:sx n="70" d="100"/>
          <a:sy n="70" d="100"/>
        </p:scale>
        <p:origin x="63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F89E5-253B-42BC-AED7-9F52452D385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C9FF3-390E-4635-B6A2-F78E92B6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2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CC9FF3-390E-4635-B6A2-F78E92B629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94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CC9FF3-390E-4635-B6A2-F78E92B629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55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CC9FF3-390E-4635-B6A2-F78E92B629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21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CC9FF3-390E-4635-B6A2-F78E92B629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3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CC9FF3-390E-4635-B6A2-F78E92B629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15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CC9FF3-390E-4635-B6A2-F78E92B629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43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f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4981941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E2D"/>
                </a:solidFill>
              </a:defRPr>
            </a:pPr>
            <a:r>
              <a:rPr dirty="0" err="1"/>
              <a:t>Alur</a:t>
            </a:r>
            <a:r>
              <a:rPr dirty="0"/>
              <a:t> </a:t>
            </a:r>
            <a:r>
              <a:rPr dirty="0" err="1"/>
              <a:t>Kerja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LIMS</a:t>
            </a:r>
          </a:p>
          <a:p>
            <a:pPr>
              <a:spcBef>
                <a:spcPts val="1200"/>
              </a:spcBef>
              <a:defRPr sz="1800">
                <a:solidFill>
                  <a:srgbClr val="0E7490"/>
                </a:solidFill>
              </a:defRPr>
            </a:pPr>
            <a:r>
              <a:rPr dirty="0"/>
              <a:t>Laboratory Information Management </a:t>
            </a:r>
            <a:r>
              <a:rPr dirty="0" smtClean="0"/>
              <a:t>System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5146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 smtClean="0"/>
              <a:t>Fitur</a:t>
            </a:r>
            <a:r>
              <a:rPr lang="en-US" b="1" dirty="0" smtClean="0"/>
              <a:t> LIMS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7073" y="1276066"/>
            <a:ext cx="11525536" cy="4525963"/>
          </a:xfrm>
        </p:spPr>
        <p:txBody>
          <a:bodyPr>
            <a:normAutofit/>
          </a:bodyPr>
          <a:lstStyle/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 err="1" smtClean="0">
                <a:solidFill>
                  <a:srgbClr val="141E2D"/>
                </a:solidFill>
              </a:rPr>
              <a:t>Otentikasi</a:t>
            </a:r>
            <a:r>
              <a:rPr lang="en-US" sz="2600" b="1" dirty="0" smtClean="0">
                <a:solidFill>
                  <a:srgbClr val="141E2D"/>
                </a:solidFill>
              </a:rPr>
              <a:t> </a:t>
            </a:r>
            <a:r>
              <a:rPr lang="en-US" sz="2600" b="1" dirty="0">
                <a:solidFill>
                  <a:srgbClr val="141E2D"/>
                </a:solidFill>
              </a:rPr>
              <a:t>&amp; RBAC (</a:t>
            </a:r>
            <a:r>
              <a:rPr lang="en-US" sz="2600" b="1" dirty="0" err="1">
                <a:solidFill>
                  <a:srgbClr val="141E2D"/>
                </a:solidFill>
              </a:rPr>
              <a:t>Auth</a:t>
            </a:r>
            <a:r>
              <a:rPr lang="en-US" sz="2600" b="1" dirty="0">
                <a:solidFill>
                  <a:srgbClr val="141E2D"/>
                </a:solidFill>
              </a:rPr>
              <a:t> &amp; Access Control)</a:t>
            </a: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>
                <a:solidFill>
                  <a:srgbClr val="141E2D"/>
                </a:solidFill>
              </a:rPr>
              <a:t>Core System LIMS (</a:t>
            </a:r>
            <a:r>
              <a:rPr lang="en-US" sz="2600" b="1" dirty="0" err="1">
                <a:solidFill>
                  <a:srgbClr val="141E2D"/>
                </a:solidFill>
              </a:rPr>
              <a:t>mulai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Registrasi</a:t>
            </a:r>
            <a:r>
              <a:rPr lang="en-US" sz="2600" b="1" dirty="0">
                <a:solidFill>
                  <a:srgbClr val="141E2D"/>
                </a:solidFill>
              </a:rPr>
              <a:t> – </a:t>
            </a:r>
            <a:r>
              <a:rPr lang="en-US" sz="2600" b="1" dirty="0" err="1">
                <a:solidFill>
                  <a:srgbClr val="141E2D"/>
                </a:solidFill>
              </a:rPr>
              <a:t>Penyerahan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Sertifikat</a:t>
            </a:r>
            <a:r>
              <a:rPr lang="en-US" sz="2600" b="1" dirty="0">
                <a:solidFill>
                  <a:srgbClr val="141E2D"/>
                </a:solidFill>
              </a:rPr>
              <a:t>)</a:t>
            </a: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n-US" sz="2600" b="1" dirty="0" err="1">
                <a:solidFill>
                  <a:srgbClr val="141E2D"/>
                </a:solidFill>
              </a:rPr>
              <a:t>Keuangan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>
                <a:solidFill>
                  <a:srgbClr val="141E2D"/>
                </a:solidFill>
              </a:rPr>
              <a:t>&amp; </a:t>
            </a:r>
            <a:r>
              <a:rPr lang="en-US" sz="2600" b="1" dirty="0" err="1">
                <a:solidFill>
                  <a:srgbClr val="141E2D"/>
                </a:solidFill>
              </a:rPr>
              <a:t>Perjalanan</a:t>
            </a:r>
            <a:r>
              <a:rPr lang="en-US" sz="2600" b="1" dirty="0">
                <a:solidFill>
                  <a:srgbClr val="141E2D"/>
                </a:solidFill>
              </a:rPr>
              <a:t> (Finance &amp; Travel</a:t>
            </a:r>
            <a:r>
              <a:rPr lang="en-US" sz="2600" b="1" dirty="0">
                <a:solidFill>
                  <a:srgbClr val="141E2D"/>
                </a:solidFill>
              </a:rPr>
              <a:t>)</a:t>
            </a: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n-US" sz="2600" b="1" dirty="0" err="1">
                <a:solidFill>
                  <a:srgbClr val="141E2D"/>
                </a:solidFill>
              </a:rPr>
              <a:t>Manajemen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Aset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Peralatan</a:t>
            </a:r>
            <a:r>
              <a:rPr lang="en-US" sz="2600" b="1" dirty="0">
                <a:solidFill>
                  <a:srgbClr val="141E2D"/>
                </a:solidFill>
              </a:rPr>
              <a:t> Client (Asset Tracking</a:t>
            </a:r>
            <a:r>
              <a:rPr lang="en-US" sz="2600" b="1" dirty="0">
                <a:solidFill>
                  <a:srgbClr val="141E2D"/>
                </a:solidFill>
              </a:rPr>
              <a:t>)</a:t>
            </a: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n-US" sz="2600" b="1" dirty="0" err="1">
                <a:solidFill>
                  <a:srgbClr val="141E2D"/>
                </a:solidFill>
              </a:rPr>
              <a:t>Manajemen</a:t>
            </a:r>
            <a:r>
              <a:rPr lang="en-US" sz="2600" b="1" dirty="0">
                <a:solidFill>
                  <a:srgbClr val="141E2D"/>
                </a:solidFill>
              </a:rPr>
              <a:t> Testing Tools (Testing Tools Tracking</a:t>
            </a:r>
            <a:r>
              <a:rPr lang="en-US" sz="2600" b="1" dirty="0">
                <a:solidFill>
                  <a:srgbClr val="141E2D"/>
                </a:solidFill>
              </a:rPr>
              <a:t>)</a:t>
            </a:r>
            <a:endParaRPr lang="en-US" sz="2600" b="1" dirty="0">
              <a:solidFill>
                <a:srgbClr val="141E2D"/>
              </a:solidFill>
            </a:endParaRP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n-US" sz="2600" b="1" dirty="0" err="1">
                <a:solidFill>
                  <a:srgbClr val="141E2D"/>
                </a:solidFill>
              </a:rPr>
              <a:t>Kecerdasan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Buatan</a:t>
            </a:r>
            <a:r>
              <a:rPr lang="en-US" sz="2600" b="1" dirty="0">
                <a:solidFill>
                  <a:srgbClr val="141E2D"/>
                </a:solidFill>
              </a:rPr>
              <a:t> (AI): </a:t>
            </a:r>
            <a:r>
              <a:rPr lang="en-US" sz="2600" b="1" dirty="0">
                <a:solidFill>
                  <a:srgbClr val="141E2D"/>
                </a:solidFill>
              </a:rPr>
              <a:t>OCR, PQC, </a:t>
            </a:r>
            <a:r>
              <a:rPr lang="en-US" sz="2600" b="1" dirty="0" err="1">
                <a:solidFill>
                  <a:srgbClr val="141E2D"/>
                </a:solidFill>
              </a:rPr>
              <a:t>Pelaporan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Hasil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Uji</a:t>
            </a:r>
            <a:endParaRPr lang="en-US" sz="2600" b="1" dirty="0">
              <a:solidFill>
                <a:srgbClr val="141E2D"/>
              </a:solidFill>
            </a:endParaRP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n-US" sz="2600" b="1" dirty="0" err="1">
                <a:solidFill>
                  <a:srgbClr val="141E2D"/>
                </a:solidFill>
              </a:rPr>
              <a:t>Integrasi</a:t>
            </a:r>
            <a:r>
              <a:rPr lang="en-US" sz="2600" b="1" dirty="0">
                <a:solidFill>
                  <a:srgbClr val="141E2D"/>
                </a:solidFill>
              </a:rPr>
              <a:t> Simulator </a:t>
            </a:r>
            <a:r>
              <a:rPr lang="en-US" sz="2600" b="1" dirty="0" err="1">
                <a:solidFill>
                  <a:srgbClr val="141E2D"/>
                </a:solidFill>
              </a:rPr>
              <a:t>IoT</a:t>
            </a:r>
            <a:endParaRPr lang="en-US" sz="2600" b="1" dirty="0">
              <a:solidFill>
                <a:srgbClr val="141E2D"/>
              </a:solidFill>
            </a:endParaRPr>
          </a:p>
        </p:txBody>
      </p:sp>
      <p:cxnSp>
        <p:nvCxnSpPr>
          <p:cNvPr id="13" name="Straight Connector 12"/>
          <p:cNvCxnSpPr>
            <a:endCxn id="10" idx="3"/>
          </p:cNvCxnSpPr>
          <p:nvPr/>
        </p:nvCxnSpPr>
        <p:spPr>
          <a:xfrm>
            <a:off x="580030" y="822960"/>
            <a:ext cx="8106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87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5146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Register LIMS &amp; Barcode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7073" y="1276066"/>
            <a:ext cx="6230205" cy="4525963"/>
          </a:xfrm>
        </p:spPr>
        <p:txBody>
          <a:bodyPr>
            <a:normAutofit/>
          </a:bodyPr>
          <a:lstStyle/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 err="1" smtClean="0">
                <a:solidFill>
                  <a:srgbClr val="141E2D"/>
                </a:solidFill>
              </a:rPr>
              <a:t>Pencatatan</a:t>
            </a:r>
            <a:r>
              <a:rPr lang="en-US" sz="2600" b="1" dirty="0" smtClean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Sampel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 smtClean="0">
                <a:solidFill>
                  <a:srgbClr val="141E2D"/>
                </a:solidFill>
              </a:rPr>
              <a:t>Masuk</a:t>
            </a:r>
            <a:endParaRPr lang="en-US" sz="2600" b="1" dirty="0" smtClean="0">
              <a:solidFill>
                <a:srgbClr val="141E2D"/>
              </a:solidFill>
            </a:endParaRPr>
          </a:p>
          <a:p>
            <a:pPr marL="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141E2D"/>
                </a:solidFill>
              </a:rPr>
              <a:t>	</a:t>
            </a:r>
            <a:r>
              <a:rPr lang="en-US" sz="1900" dirty="0" err="1" smtClean="0">
                <a:solidFill>
                  <a:srgbClr val="505F6E"/>
                </a:solidFill>
              </a:rPr>
              <a:t>Registrasi</a:t>
            </a:r>
            <a:r>
              <a:rPr lang="en-US" sz="1900" dirty="0" smtClean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sampel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ke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sistem</a:t>
            </a:r>
            <a:r>
              <a:rPr lang="en-US" sz="1900" dirty="0">
                <a:solidFill>
                  <a:srgbClr val="505F6E"/>
                </a:solidFill>
              </a:rPr>
              <a:t> LIMS </a:t>
            </a:r>
            <a:r>
              <a:rPr lang="en-US" sz="1900" dirty="0" err="1" smtClean="0">
                <a:solidFill>
                  <a:srgbClr val="505F6E"/>
                </a:solidFill>
              </a:rPr>
              <a:t>lengkap</a:t>
            </a:r>
            <a:endParaRPr lang="en-US" sz="2200" dirty="0">
              <a:solidFill>
                <a:srgbClr val="505F6E"/>
              </a:solidFill>
            </a:endParaRP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n-US" sz="2600" b="1" dirty="0" err="1">
                <a:solidFill>
                  <a:srgbClr val="141E2D"/>
                </a:solidFill>
              </a:rPr>
              <a:t>Pencetakan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>
                <a:solidFill>
                  <a:srgbClr val="141E2D"/>
                </a:solidFill>
              </a:rPr>
              <a:t>Barcode </a:t>
            </a:r>
            <a:r>
              <a:rPr lang="en-US" sz="2600" b="1" dirty="0" err="1" smtClean="0">
                <a:solidFill>
                  <a:srgbClr val="141E2D"/>
                </a:solidFill>
              </a:rPr>
              <a:t>Unik</a:t>
            </a:r>
            <a:endParaRPr lang="en-US" sz="3500" b="1" dirty="0" smtClean="0">
              <a:solidFill>
                <a:srgbClr val="141E2D"/>
              </a:solidFill>
            </a:endParaRPr>
          </a:p>
          <a:p>
            <a:pPr marL="45085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141E2D"/>
                </a:solidFill>
              </a:rPr>
              <a:t>	</a:t>
            </a:r>
            <a:r>
              <a:rPr lang="en-US" sz="1900" dirty="0" err="1">
                <a:solidFill>
                  <a:srgbClr val="505F6E"/>
                </a:solidFill>
              </a:rPr>
              <a:t>Sistem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mencetak</a:t>
            </a:r>
            <a:r>
              <a:rPr lang="en-US" sz="1900" dirty="0">
                <a:solidFill>
                  <a:srgbClr val="505F6E"/>
                </a:solidFill>
              </a:rPr>
              <a:t> label barcode </a:t>
            </a:r>
            <a:r>
              <a:rPr lang="en-US" sz="1900" dirty="0" err="1">
                <a:solidFill>
                  <a:srgbClr val="505F6E"/>
                </a:solidFill>
              </a:rPr>
              <a:t>unik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untuk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penempelan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pada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 smtClean="0">
                <a:solidFill>
                  <a:srgbClr val="505F6E"/>
                </a:solidFill>
              </a:rPr>
              <a:t>wadah</a:t>
            </a:r>
            <a:r>
              <a:rPr lang="en-US" sz="1900" dirty="0" smtClean="0">
                <a:solidFill>
                  <a:srgbClr val="505F6E"/>
                </a:solidFill>
              </a:rPr>
              <a:t> </a:t>
            </a:r>
            <a:r>
              <a:rPr lang="en-US" sz="1900" dirty="0" err="1" smtClean="0">
                <a:solidFill>
                  <a:srgbClr val="505F6E"/>
                </a:solidFill>
              </a:rPr>
              <a:t>sampel</a:t>
            </a:r>
            <a:endParaRPr lang="en-US" sz="1900" dirty="0">
              <a:solidFill>
                <a:srgbClr val="505F6E"/>
              </a:solidFill>
            </a:endParaRP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Font typeface="+mj-lt"/>
              <a:buAutoNum type="arabicPeriod" startAt="3"/>
            </a:pPr>
            <a:r>
              <a:rPr lang="en-US" sz="2600" b="1" dirty="0" err="1" smtClean="0">
                <a:solidFill>
                  <a:srgbClr val="141E2D"/>
                </a:solidFill>
              </a:rPr>
              <a:t>Pencatatan</a:t>
            </a:r>
            <a:r>
              <a:rPr lang="en-US" sz="2600" b="1" dirty="0" smtClean="0">
                <a:solidFill>
                  <a:srgbClr val="141E2D"/>
                </a:solidFill>
              </a:rPr>
              <a:t> </a:t>
            </a:r>
            <a:r>
              <a:rPr lang="en-US" sz="2600" b="1" dirty="0" err="1">
                <a:solidFill>
                  <a:srgbClr val="141E2D"/>
                </a:solidFill>
              </a:rPr>
              <a:t>Identitas</a:t>
            </a:r>
            <a:r>
              <a:rPr lang="en-US" sz="2600" b="1" dirty="0">
                <a:solidFill>
                  <a:srgbClr val="141E2D"/>
                </a:solidFill>
              </a:rPr>
              <a:t> </a:t>
            </a:r>
            <a:r>
              <a:rPr lang="en-US" sz="2600" b="1" dirty="0" err="1" smtClean="0">
                <a:solidFill>
                  <a:srgbClr val="141E2D"/>
                </a:solidFill>
              </a:rPr>
              <a:t>Pengirim</a:t>
            </a:r>
            <a:endParaRPr lang="en-US" sz="2600" b="1" dirty="0">
              <a:solidFill>
                <a:srgbClr val="141E2D"/>
              </a:solidFill>
            </a:endParaRPr>
          </a:p>
          <a:p>
            <a:pPr marL="450850" indent="-45085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3600" b="1" dirty="0" smtClean="0">
                <a:solidFill>
                  <a:srgbClr val="141E2D"/>
                </a:solidFill>
              </a:rPr>
              <a:t>	</a:t>
            </a:r>
            <a:r>
              <a:rPr lang="en-US" sz="1900" dirty="0" err="1">
                <a:solidFill>
                  <a:srgbClr val="505F6E"/>
                </a:solidFill>
              </a:rPr>
              <a:t>Identitas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pengirim</a:t>
            </a:r>
            <a:r>
              <a:rPr lang="en-US" sz="1900" dirty="0">
                <a:solidFill>
                  <a:srgbClr val="505F6E"/>
                </a:solidFill>
              </a:rPr>
              <a:t>, </a:t>
            </a:r>
            <a:r>
              <a:rPr lang="en-US" sz="1900" dirty="0" err="1">
                <a:solidFill>
                  <a:srgbClr val="505F6E"/>
                </a:solidFill>
              </a:rPr>
              <a:t>tanggal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terima</a:t>
            </a:r>
            <a:r>
              <a:rPr lang="en-US" sz="1900" dirty="0">
                <a:solidFill>
                  <a:srgbClr val="505F6E"/>
                </a:solidFill>
              </a:rPr>
              <a:t>, </a:t>
            </a:r>
            <a:r>
              <a:rPr lang="en-US" sz="1900" dirty="0" err="1">
                <a:solidFill>
                  <a:srgbClr val="505F6E"/>
                </a:solidFill>
              </a:rPr>
              <a:t>dan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kondisi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fisik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sampel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tercatat</a:t>
            </a:r>
            <a:r>
              <a:rPr lang="en-US" sz="1900" dirty="0">
                <a:solidFill>
                  <a:srgbClr val="505F6E"/>
                </a:solidFill>
              </a:rPr>
              <a:t> </a:t>
            </a:r>
            <a:r>
              <a:rPr lang="en-US" sz="1900" dirty="0" err="1">
                <a:solidFill>
                  <a:srgbClr val="505F6E"/>
                </a:solidFill>
              </a:rPr>
              <a:t>otomatis</a:t>
            </a:r>
            <a:endParaRPr lang="en-US" sz="1900" dirty="0">
              <a:solidFill>
                <a:srgbClr val="505F6E"/>
              </a:solidFill>
            </a:endParaRPr>
          </a:p>
        </p:txBody>
      </p:sp>
      <p:cxnSp>
        <p:nvCxnSpPr>
          <p:cNvPr id="13" name="Straight Connector 12"/>
          <p:cNvCxnSpPr>
            <a:endCxn id="10" idx="3"/>
          </p:cNvCxnSpPr>
          <p:nvPr/>
        </p:nvCxnSpPr>
        <p:spPr>
          <a:xfrm>
            <a:off x="580030" y="822960"/>
            <a:ext cx="8106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489" y="1276066"/>
            <a:ext cx="5119183" cy="279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1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5146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/>
              <a:t>Perencanaan</a:t>
            </a:r>
            <a:r>
              <a:rPr lang="en-US" b="1" dirty="0"/>
              <a:t> </a:t>
            </a:r>
            <a:r>
              <a:rPr lang="en-US" b="1" dirty="0" err="1" smtClean="0"/>
              <a:t>Pengujian</a:t>
            </a:r>
            <a:r>
              <a:rPr lang="en-US" b="1" dirty="0" smtClean="0"/>
              <a:t> LIMS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7073" y="1276066"/>
            <a:ext cx="6230205" cy="4525963"/>
          </a:xfrm>
        </p:spPr>
        <p:txBody>
          <a:bodyPr>
            <a:normAutofit fontScale="62500" lnSpcReduction="20000"/>
          </a:bodyPr>
          <a:lstStyle/>
          <a:p>
            <a:pPr marL="273050" indent="-273050">
              <a:spcAft>
                <a:spcPts val="1200"/>
              </a:spcAft>
              <a:buFont typeface="+mj-lt"/>
              <a:buAutoNum type="arabicPeriod"/>
            </a:pPr>
            <a:r>
              <a:rPr lang="en-US" sz="3600" b="1" dirty="0" err="1" smtClean="0">
                <a:solidFill>
                  <a:srgbClr val="141E2D"/>
                </a:solidFill>
              </a:rPr>
              <a:t>Penentuan</a:t>
            </a:r>
            <a:r>
              <a:rPr lang="en-US" sz="3600" b="1" dirty="0" smtClean="0">
                <a:solidFill>
                  <a:srgbClr val="141E2D"/>
                </a:solidFill>
              </a:rPr>
              <a:t> </a:t>
            </a:r>
            <a:r>
              <a:rPr lang="en-US" sz="3600" b="1" dirty="0">
                <a:solidFill>
                  <a:srgbClr val="141E2D"/>
                </a:solidFill>
              </a:rPr>
              <a:t>Parameter </a:t>
            </a:r>
            <a:r>
              <a:rPr lang="en-US" sz="3600" b="1" dirty="0" err="1" smtClean="0">
                <a:solidFill>
                  <a:srgbClr val="141E2D"/>
                </a:solidFill>
              </a:rPr>
              <a:t>Uji</a:t>
            </a:r>
            <a:endParaRPr lang="en-US" sz="3600" b="1" dirty="0" smtClean="0">
              <a:solidFill>
                <a:srgbClr val="141E2D"/>
              </a:solidFill>
            </a:endParaRPr>
          </a:p>
          <a:p>
            <a:pPr marL="273050" indent="0">
              <a:spcAft>
                <a:spcPts val="1200"/>
              </a:spcAft>
              <a:buNone/>
            </a:pPr>
            <a:r>
              <a:rPr lang="en-US" sz="2800" dirty="0" err="1" smtClean="0">
                <a:solidFill>
                  <a:srgbClr val="505F6E"/>
                </a:solidFill>
              </a:rPr>
              <a:t>Sistem</a:t>
            </a:r>
            <a:r>
              <a:rPr lang="en-US" sz="2800" dirty="0" smtClean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memetakan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sampel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ke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jenis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pengujian</a:t>
            </a:r>
            <a:r>
              <a:rPr lang="en-US" sz="2800" dirty="0">
                <a:solidFill>
                  <a:srgbClr val="505F6E"/>
                </a:solidFill>
              </a:rPr>
              <a:t> yang </a:t>
            </a:r>
            <a:r>
              <a:rPr lang="en-US" sz="2800" dirty="0" err="1">
                <a:solidFill>
                  <a:srgbClr val="505F6E"/>
                </a:solidFill>
              </a:rPr>
              <a:t>diperlukan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sesuai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permintaan</a:t>
            </a:r>
            <a:r>
              <a:rPr lang="en-US" sz="2800" dirty="0">
                <a:solidFill>
                  <a:srgbClr val="505F6E"/>
                </a:solidFill>
              </a:rPr>
              <a:t>.</a:t>
            </a:r>
          </a:p>
          <a:p>
            <a:pPr marL="273050" indent="-273050">
              <a:spcAft>
                <a:spcPts val="1200"/>
              </a:spcAft>
              <a:buFont typeface="+mj-lt"/>
              <a:buAutoNum type="arabicPeriod" startAt="2"/>
            </a:pPr>
            <a:r>
              <a:rPr lang="en-US" sz="3600" b="1" dirty="0" err="1" smtClean="0">
                <a:solidFill>
                  <a:srgbClr val="141E2D"/>
                </a:solidFill>
              </a:rPr>
              <a:t>Pembagian</a:t>
            </a:r>
            <a:r>
              <a:rPr lang="en-US" sz="3600" b="1" dirty="0" smtClean="0">
                <a:solidFill>
                  <a:srgbClr val="141E2D"/>
                </a:solidFill>
              </a:rPr>
              <a:t> </a:t>
            </a:r>
            <a:r>
              <a:rPr lang="en-US" sz="3600" b="1" dirty="0" err="1" smtClean="0">
                <a:solidFill>
                  <a:srgbClr val="141E2D"/>
                </a:solidFill>
              </a:rPr>
              <a:t>Sampel</a:t>
            </a:r>
            <a:endParaRPr lang="en-US" sz="3600" b="1" dirty="0" smtClean="0">
              <a:solidFill>
                <a:srgbClr val="141E2D"/>
              </a:solidFill>
            </a:endParaRPr>
          </a:p>
          <a:p>
            <a:pPr marL="273050" indent="0">
              <a:spcAft>
                <a:spcPts val="1200"/>
              </a:spcAft>
              <a:buNone/>
            </a:pPr>
            <a:r>
              <a:rPr lang="en-US" sz="2800" dirty="0" err="1" smtClean="0">
                <a:solidFill>
                  <a:srgbClr val="505F6E"/>
                </a:solidFill>
              </a:rPr>
              <a:t>Sampel</a:t>
            </a:r>
            <a:r>
              <a:rPr lang="en-US" sz="2800" dirty="0" smtClean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dibagi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ke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dalam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beberapa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wadah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kecil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jika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membutuhkan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beberapa</a:t>
            </a:r>
            <a:r>
              <a:rPr lang="en-US" sz="2800" dirty="0">
                <a:solidFill>
                  <a:srgbClr val="505F6E"/>
                </a:solidFill>
              </a:rPr>
              <a:t> lab/</a:t>
            </a:r>
            <a:r>
              <a:rPr lang="en-US" sz="2800" dirty="0" err="1">
                <a:solidFill>
                  <a:srgbClr val="505F6E"/>
                </a:solidFill>
              </a:rPr>
              <a:t>alat</a:t>
            </a:r>
            <a:r>
              <a:rPr lang="en-US" sz="2800" dirty="0">
                <a:solidFill>
                  <a:srgbClr val="505F6E"/>
                </a:solidFill>
              </a:rPr>
              <a:t>.</a:t>
            </a:r>
          </a:p>
          <a:p>
            <a:pPr marL="273050" indent="-273050">
              <a:spcAft>
                <a:spcPts val="1200"/>
              </a:spcAft>
              <a:buFont typeface="+mj-lt"/>
              <a:buAutoNum type="arabicPeriod" startAt="3"/>
            </a:pPr>
            <a:r>
              <a:rPr lang="en-US" sz="3600" b="1" dirty="0" err="1" smtClean="0">
                <a:solidFill>
                  <a:srgbClr val="141E2D"/>
                </a:solidFill>
              </a:rPr>
              <a:t>Penjadwalan</a:t>
            </a:r>
            <a:r>
              <a:rPr lang="en-US" sz="3600" b="1" dirty="0" smtClean="0">
                <a:solidFill>
                  <a:srgbClr val="141E2D"/>
                </a:solidFill>
              </a:rPr>
              <a:t> </a:t>
            </a:r>
            <a:r>
              <a:rPr lang="en-US" sz="3600" b="1" dirty="0" err="1">
                <a:solidFill>
                  <a:srgbClr val="141E2D"/>
                </a:solidFill>
              </a:rPr>
              <a:t>Kerja</a:t>
            </a:r>
            <a:r>
              <a:rPr lang="en-US" sz="3600" b="1" dirty="0">
                <a:solidFill>
                  <a:srgbClr val="141E2D"/>
                </a:solidFill>
              </a:rPr>
              <a:t> (Worklist) &amp; PIC </a:t>
            </a:r>
            <a:r>
              <a:rPr lang="en-US" sz="3600" b="1" dirty="0" smtClean="0">
                <a:solidFill>
                  <a:srgbClr val="141E2D"/>
                </a:solidFill>
              </a:rPr>
              <a:t>Tester</a:t>
            </a:r>
          </a:p>
          <a:p>
            <a:pPr marL="273050" indent="0">
              <a:spcAft>
                <a:spcPts val="1200"/>
              </a:spcAft>
              <a:buNone/>
            </a:pPr>
            <a:r>
              <a:rPr lang="en-US" sz="2800" dirty="0" err="1" smtClean="0">
                <a:solidFill>
                  <a:srgbClr val="505F6E"/>
                </a:solidFill>
              </a:rPr>
              <a:t>Sampel</a:t>
            </a:r>
            <a:r>
              <a:rPr lang="en-US" sz="2800" dirty="0" smtClean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secara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otomatis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masuk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ke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antrean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kerja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analis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atau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instrumen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terkait</a:t>
            </a:r>
            <a:r>
              <a:rPr lang="en-US" sz="2800" dirty="0">
                <a:solidFill>
                  <a:srgbClr val="505F6E"/>
                </a:solidFill>
              </a:rPr>
              <a:t>.</a:t>
            </a:r>
          </a:p>
          <a:p>
            <a:pPr marL="273050" indent="-273050">
              <a:spcAft>
                <a:spcPts val="1200"/>
              </a:spcAft>
              <a:buFont typeface="+mj-lt"/>
              <a:buAutoNum type="arabicPeriod" startAt="4"/>
            </a:pPr>
            <a:r>
              <a:rPr lang="en-US" sz="3600" b="1" dirty="0" err="1" smtClean="0">
                <a:solidFill>
                  <a:srgbClr val="141E2D"/>
                </a:solidFill>
              </a:rPr>
              <a:t>Pengiriman</a:t>
            </a:r>
            <a:r>
              <a:rPr lang="en-US" sz="3600" b="1" dirty="0" smtClean="0">
                <a:solidFill>
                  <a:srgbClr val="141E2D"/>
                </a:solidFill>
              </a:rPr>
              <a:t> </a:t>
            </a:r>
            <a:r>
              <a:rPr lang="en-US" sz="3600" b="1" dirty="0">
                <a:solidFill>
                  <a:srgbClr val="141E2D"/>
                </a:solidFill>
              </a:rPr>
              <a:t>Sample Test </a:t>
            </a:r>
            <a:r>
              <a:rPr lang="en-US" sz="3600" b="1" dirty="0" err="1">
                <a:solidFill>
                  <a:srgbClr val="141E2D"/>
                </a:solidFill>
              </a:rPr>
              <a:t>ke</a:t>
            </a:r>
            <a:r>
              <a:rPr lang="en-US" sz="3600" b="1" dirty="0">
                <a:solidFill>
                  <a:srgbClr val="141E2D"/>
                </a:solidFill>
              </a:rPr>
              <a:t> </a:t>
            </a:r>
            <a:r>
              <a:rPr lang="en-US" sz="3600" b="1" dirty="0" err="1">
                <a:solidFill>
                  <a:srgbClr val="141E2D"/>
                </a:solidFill>
              </a:rPr>
              <a:t>Lokasi</a:t>
            </a:r>
            <a:r>
              <a:rPr lang="en-US" sz="3600" b="1" dirty="0">
                <a:solidFill>
                  <a:srgbClr val="141E2D"/>
                </a:solidFill>
              </a:rPr>
              <a:t> Testing</a:t>
            </a:r>
          </a:p>
          <a:p>
            <a:pPr marL="273050" indent="0">
              <a:spcAft>
                <a:spcPts val="1200"/>
              </a:spcAft>
              <a:buNone/>
            </a:pPr>
            <a:r>
              <a:rPr lang="en-US" sz="2800" dirty="0" err="1">
                <a:solidFill>
                  <a:srgbClr val="505F6E"/>
                </a:solidFill>
              </a:rPr>
              <a:t>Pengiriman</a:t>
            </a:r>
            <a:r>
              <a:rPr lang="en-US" sz="2800" dirty="0">
                <a:solidFill>
                  <a:srgbClr val="505F6E"/>
                </a:solidFill>
              </a:rPr>
              <a:t> sample test </a:t>
            </a:r>
            <a:r>
              <a:rPr lang="en-US" sz="2800" dirty="0" err="1">
                <a:solidFill>
                  <a:srgbClr val="505F6E"/>
                </a:solidFill>
              </a:rPr>
              <a:t>ke</a:t>
            </a:r>
            <a:r>
              <a:rPr lang="en-US" sz="2800" dirty="0">
                <a:solidFill>
                  <a:srgbClr val="505F6E"/>
                </a:solidFill>
              </a:rPr>
              <a:t> </a:t>
            </a:r>
            <a:r>
              <a:rPr lang="en-US" sz="2800" dirty="0" err="1">
                <a:solidFill>
                  <a:srgbClr val="505F6E"/>
                </a:solidFill>
              </a:rPr>
              <a:t>lokasi</a:t>
            </a:r>
            <a:r>
              <a:rPr lang="en-US" sz="2800" dirty="0">
                <a:solidFill>
                  <a:srgbClr val="505F6E"/>
                </a:solidFill>
              </a:rPr>
              <a:t> testing</a:t>
            </a:r>
            <a:endParaRPr lang="en-US" sz="2800" dirty="0">
              <a:solidFill>
                <a:srgbClr val="505F6E"/>
              </a:solidFill>
            </a:endParaRPr>
          </a:p>
        </p:txBody>
      </p:sp>
      <p:cxnSp>
        <p:nvCxnSpPr>
          <p:cNvPr id="13" name="Straight Connector 12"/>
          <p:cNvCxnSpPr>
            <a:endCxn id="10" idx="3"/>
          </p:cNvCxnSpPr>
          <p:nvPr/>
        </p:nvCxnSpPr>
        <p:spPr>
          <a:xfrm>
            <a:off x="580030" y="822960"/>
            <a:ext cx="8106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639" y="3724093"/>
            <a:ext cx="4740191" cy="25589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639" y="1165139"/>
            <a:ext cx="4740190" cy="255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8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5146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/>
              <a:t>Pelaksanaan</a:t>
            </a:r>
            <a:r>
              <a:rPr lang="en-US" b="1" dirty="0"/>
              <a:t> </a:t>
            </a:r>
            <a:r>
              <a:rPr lang="en-US" b="1" dirty="0" err="1" smtClean="0"/>
              <a:t>Pengujian</a:t>
            </a:r>
            <a:r>
              <a:rPr lang="en-US" b="1" dirty="0" smtClean="0"/>
              <a:t> LIMS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7073" y="1276066"/>
            <a:ext cx="6230205" cy="4525963"/>
          </a:xfrm>
        </p:spPr>
        <p:txBody>
          <a:bodyPr>
            <a:normAutofit/>
          </a:bodyPr>
          <a:lstStyle/>
          <a:p>
            <a:pPr marL="273050" indent="-273050">
              <a:lnSpc>
                <a:spcPct val="8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300" b="1" dirty="0">
                <a:solidFill>
                  <a:srgbClr val="141E2D"/>
                </a:solidFill>
              </a:rPr>
              <a:t>Direct </a:t>
            </a:r>
            <a:r>
              <a:rPr lang="en-US" sz="2300" b="1" dirty="0">
                <a:solidFill>
                  <a:srgbClr val="141E2D"/>
                </a:solidFill>
              </a:rPr>
              <a:t>Instrument </a:t>
            </a:r>
            <a:r>
              <a:rPr lang="en-US" sz="2300" b="1" dirty="0">
                <a:solidFill>
                  <a:srgbClr val="141E2D"/>
                </a:solidFill>
              </a:rPr>
              <a:t>Interfacing</a:t>
            </a:r>
          </a:p>
          <a:p>
            <a:pPr marL="27305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505F6E"/>
                </a:solidFill>
              </a:rPr>
              <a:t>Capture </a:t>
            </a:r>
            <a:r>
              <a:rPr lang="en-US" sz="1800" dirty="0">
                <a:solidFill>
                  <a:srgbClr val="505F6E"/>
                </a:solidFill>
              </a:rPr>
              <a:t>data </a:t>
            </a:r>
            <a:r>
              <a:rPr lang="en-US" sz="1800" dirty="0" err="1">
                <a:solidFill>
                  <a:srgbClr val="505F6E"/>
                </a:solidFill>
              </a:rPr>
              <a:t>hasil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otomatis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dari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alat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analit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ke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smtClean="0">
                <a:solidFill>
                  <a:srgbClr val="505F6E"/>
                </a:solidFill>
              </a:rPr>
              <a:t>LIMS</a:t>
            </a:r>
            <a:endParaRPr lang="en-US" sz="2000" dirty="0">
              <a:solidFill>
                <a:srgbClr val="505F6E"/>
              </a:solidFill>
            </a:endParaRPr>
          </a:p>
          <a:p>
            <a:pPr marL="273050" indent="-273050">
              <a:lnSpc>
                <a:spcPct val="80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n-US" sz="2300" b="1" dirty="0" err="1" smtClean="0">
                <a:solidFill>
                  <a:srgbClr val="141E2D"/>
                </a:solidFill>
              </a:rPr>
              <a:t>Mencegah</a:t>
            </a:r>
            <a:r>
              <a:rPr lang="en-US" sz="2300" b="1" dirty="0" smtClean="0">
                <a:solidFill>
                  <a:srgbClr val="141E2D"/>
                </a:solidFill>
              </a:rPr>
              <a:t> </a:t>
            </a:r>
            <a:r>
              <a:rPr lang="en-US" sz="2300" b="1" dirty="0" err="1">
                <a:solidFill>
                  <a:srgbClr val="141E2D"/>
                </a:solidFill>
              </a:rPr>
              <a:t>Risiko</a:t>
            </a:r>
            <a:r>
              <a:rPr lang="en-US" sz="2300" b="1" dirty="0">
                <a:solidFill>
                  <a:srgbClr val="141E2D"/>
                </a:solidFill>
              </a:rPr>
              <a:t> Human </a:t>
            </a:r>
            <a:r>
              <a:rPr lang="en-US" sz="2300" b="1" dirty="0">
                <a:solidFill>
                  <a:srgbClr val="141E2D"/>
                </a:solidFill>
              </a:rPr>
              <a:t>Error</a:t>
            </a:r>
          </a:p>
          <a:p>
            <a:pPr marL="27305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dirty="0" err="1">
                <a:solidFill>
                  <a:srgbClr val="505F6E"/>
                </a:solidFill>
              </a:rPr>
              <a:t>Mengeliminasi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ketik</a:t>
            </a:r>
            <a:r>
              <a:rPr lang="en-US" sz="1800" dirty="0">
                <a:solidFill>
                  <a:srgbClr val="505F6E"/>
                </a:solidFill>
              </a:rPr>
              <a:t> manual </a:t>
            </a:r>
            <a:r>
              <a:rPr lang="en-US" sz="1800" dirty="0" err="1">
                <a:solidFill>
                  <a:srgbClr val="505F6E"/>
                </a:solidFill>
              </a:rPr>
              <a:t>angka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hasil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dari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layar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alat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ke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lembar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kerja</a:t>
            </a:r>
            <a:endParaRPr lang="en-US" sz="1800" dirty="0">
              <a:solidFill>
                <a:srgbClr val="505F6E"/>
              </a:solidFill>
            </a:endParaRPr>
          </a:p>
        </p:txBody>
      </p:sp>
      <p:cxnSp>
        <p:nvCxnSpPr>
          <p:cNvPr id="13" name="Straight Connector 12"/>
          <p:cNvCxnSpPr>
            <a:endCxn id="10" idx="3"/>
          </p:cNvCxnSpPr>
          <p:nvPr/>
        </p:nvCxnSpPr>
        <p:spPr>
          <a:xfrm>
            <a:off x="580030" y="822960"/>
            <a:ext cx="8106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278" y="1394460"/>
            <a:ext cx="5363570" cy="289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9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5146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 smtClean="0"/>
              <a:t>Analisa</a:t>
            </a:r>
            <a:r>
              <a:rPr lang="en-US" b="1" dirty="0" smtClean="0"/>
              <a:t> Data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7073" y="1352611"/>
            <a:ext cx="6230205" cy="3049040"/>
          </a:xfrm>
        </p:spPr>
        <p:txBody>
          <a:bodyPr anchor="ctr">
            <a:normAutofit fontScale="92500" lnSpcReduction="10000"/>
          </a:bodyPr>
          <a:lstStyle/>
          <a:p>
            <a:pPr marL="273050" indent="-273050">
              <a:lnSpc>
                <a:spcPts val="2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 err="1" smtClean="0">
                <a:solidFill>
                  <a:srgbClr val="141E2D"/>
                </a:solidFill>
              </a:rPr>
              <a:t>Kalkulasi</a:t>
            </a:r>
            <a:r>
              <a:rPr lang="en-US" sz="2400" b="1" dirty="0" smtClean="0">
                <a:solidFill>
                  <a:srgbClr val="141E2D"/>
                </a:solidFill>
              </a:rPr>
              <a:t> </a:t>
            </a:r>
            <a:r>
              <a:rPr lang="en-US" sz="2400" b="1" dirty="0">
                <a:solidFill>
                  <a:srgbClr val="141E2D"/>
                </a:solidFill>
              </a:rPr>
              <a:t>Formula  Scoring </a:t>
            </a:r>
            <a:r>
              <a:rPr lang="en-US" sz="2400" b="1" dirty="0" err="1" smtClean="0">
                <a:solidFill>
                  <a:srgbClr val="141E2D"/>
                </a:solidFill>
              </a:rPr>
              <a:t>Otomatis</a:t>
            </a:r>
            <a:endParaRPr lang="en-US" sz="2400" b="1" dirty="0" smtClean="0">
              <a:solidFill>
                <a:srgbClr val="141E2D"/>
              </a:solidFill>
            </a:endParaRPr>
          </a:p>
          <a:p>
            <a:pPr marL="27305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dirty="0" err="1" smtClean="0">
                <a:solidFill>
                  <a:srgbClr val="505F6E"/>
                </a:solidFill>
              </a:rPr>
              <a:t>Perhitungan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>
                <a:solidFill>
                  <a:srgbClr val="505F6E"/>
                </a:solidFill>
              </a:rPr>
              <a:t>scoring </a:t>
            </a:r>
            <a:r>
              <a:rPr lang="en-US" sz="1800" dirty="0" err="1">
                <a:solidFill>
                  <a:srgbClr val="505F6E"/>
                </a:solidFill>
              </a:rPr>
              <a:t>berbasis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rumus</a:t>
            </a:r>
            <a:r>
              <a:rPr lang="en-US" sz="1800" dirty="0">
                <a:solidFill>
                  <a:srgbClr val="505F6E"/>
                </a:solidFill>
              </a:rPr>
              <a:t> LIMS.</a:t>
            </a:r>
          </a:p>
          <a:p>
            <a:pPr marL="273050" indent="-252000">
              <a:spcAft>
                <a:spcPts val="1200"/>
              </a:spcAft>
              <a:buFont typeface="+mj-lt"/>
              <a:buAutoNum type="arabicPeriod" startAt="2"/>
            </a:pPr>
            <a:r>
              <a:rPr lang="en-US" sz="2400" b="1" dirty="0" smtClean="0">
                <a:solidFill>
                  <a:srgbClr val="141E2D"/>
                </a:solidFill>
              </a:rPr>
              <a:t>Flagging </a:t>
            </a:r>
            <a:r>
              <a:rPr lang="en-US" sz="2400" b="1" dirty="0">
                <a:solidFill>
                  <a:srgbClr val="141E2D"/>
                </a:solidFill>
              </a:rPr>
              <a:t>Limit </a:t>
            </a:r>
            <a:r>
              <a:rPr lang="en-US" sz="2400" b="1" dirty="0" err="1" smtClean="0">
                <a:solidFill>
                  <a:srgbClr val="141E2D"/>
                </a:solidFill>
              </a:rPr>
              <a:t>Spesifikasi</a:t>
            </a:r>
            <a:endParaRPr lang="en-US" sz="2400" b="1" dirty="0">
              <a:solidFill>
                <a:srgbClr val="141E2D"/>
              </a:solidFill>
            </a:endParaRPr>
          </a:p>
          <a:p>
            <a:pPr marL="273050" indent="0">
              <a:spcAft>
                <a:spcPts val="1200"/>
              </a:spcAft>
              <a:buNone/>
            </a:pPr>
            <a:r>
              <a:rPr lang="en-US" sz="1800" dirty="0" err="1" smtClean="0">
                <a:solidFill>
                  <a:srgbClr val="505F6E"/>
                </a:solidFill>
              </a:rPr>
              <a:t>Sistem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 err="1" smtClean="0">
                <a:solidFill>
                  <a:srgbClr val="505F6E"/>
                </a:solidFill>
              </a:rPr>
              <a:t>menandai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 err="1" smtClean="0">
                <a:solidFill>
                  <a:srgbClr val="505F6E"/>
                </a:solidFill>
              </a:rPr>
              <a:t>secara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 err="1" smtClean="0">
                <a:solidFill>
                  <a:srgbClr val="505F6E"/>
                </a:solidFill>
              </a:rPr>
              <a:t>otomatis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 err="1" smtClean="0">
                <a:solidFill>
                  <a:srgbClr val="505F6E"/>
                </a:solidFill>
              </a:rPr>
              <a:t>hasil</a:t>
            </a:r>
            <a:r>
              <a:rPr lang="en-US" sz="1800" dirty="0" smtClean="0">
                <a:solidFill>
                  <a:srgbClr val="505F6E"/>
                </a:solidFill>
              </a:rPr>
              <a:t> yang Out of Specification (OOS) </a:t>
            </a:r>
            <a:r>
              <a:rPr lang="en-US" sz="1800" dirty="0" err="1" smtClean="0">
                <a:solidFill>
                  <a:srgbClr val="505F6E"/>
                </a:solidFill>
              </a:rPr>
              <a:t>menggunakan</a:t>
            </a:r>
            <a:r>
              <a:rPr lang="en-US" sz="1800" dirty="0" smtClean="0">
                <a:solidFill>
                  <a:srgbClr val="505F6E"/>
                </a:solidFill>
              </a:rPr>
              <a:t> AI-PQC</a:t>
            </a:r>
          </a:p>
          <a:p>
            <a:pPr marL="273050" indent="-273050">
              <a:spcAft>
                <a:spcPts val="1200"/>
              </a:spcAft>
              <a:buFont typeface="+mj-lt"/>
              <a:buAutoNum type="arabicPeriod" startAt="3"/>
            </a:pPr>
            <a:r>
              <a:rPr lang="en-US" sz="2400" b="1" dirty="0" err="1" smtClean="0">
                <a:solidFill>
                  <a:srgbClr val="141E2D"/>
                </a:solidFill>
              </a:rPr>
              <a:t>Pengembalian</a:t>
            </a:r>
            <a:r>
              <a:rPr lang="en-US" sz="2400" b="1" dirty="0" smtClean="0">
                <a:solidFill>
                  <a:srgbClr val="141E2D"/>
                </a:solidFill>
              </a:rPr>
              <a:t> </a:t>
            </a:r>
            <a:r>
              <a:rPr lang="en-US" sz="2400" b="1" dirty="0">
                <a:solidFill>
                  <a:srgbClr val="141E2D"/>
                </a:solidFill>
              </a:rPr>
              <a:t>Sample Test </a:t>
            </a:r>
            <a:r>
              <a:rPr lang="en-US" sz="2400" b="1" dirty="0" err="1">
                <a:solidFill>
                  <a:srgbClr val="141E2D"/>
                </a:solidFill>
              </a:rPr>
              <a:t>ke</a:t>
            </a:r>
            <a:r>
              <a:rPr lang="en-US" sz="2400" b="1" dirty="0">
                <a:solidFill>
                  <a:srgbClr val="141E2D"/>
                </a:solidFill>
              </a:rPr>
              <a:t> Kantor </a:t>
            </a:r>
            <a:r>
              <a:rPr lang="en-US" sz="2400" b="1" dirty="0" err="1" smtClean="0">
                <a:solidFill>
                  <a:srgbClr val="141E2D"/>
                </a:solidFill>
              </a:rPr>
              <a:t>Pusat</a:t>
            </a:r>
            <a:endParaRPr lang="en-US" sz="2400" b="1" dirty="0" smtClean="0">
              <a:solidFill>
                <a:srgbClr val="141E2D"/>
              </a:solidFill>
            </a:endParaRPr>
          </a:p>
          <a:p>
            <a:pPr marL="0" indent="273050">
              <a:spcAft>
                <a:spcPts val="1200"/>
              </a:spcAft>
              <a:buNone/>
            </a:pPr>
            <a:r>
              <a:rPr lang="en-US" sz="1800" dirty="0" err="1" smtClean="0">
                <a:solidFill>
                  <a:srgbClr val="505F6E"/>
                </a:solidFill>
              </a:rPr>
              <a:t>Pengembalian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>
                <a:solidFill>
                  <a:srgbClr val="505F6E"/>
                </a:solidFill>
              </a:rPr>
              <a:t>sample test </a:t>
            </a:r>
            <a:r>
              <a:rPr lang="en-US" sz="1800" dirty="0" err="1">
                <a:solidFill>
                  <a:srgbClr val="505F6E"/>
                </a:solidFill>
              </a:rPr>
              <a:t>ke</a:t>
            </a:r>
            <a:r>
              <a:rPr lang="en-US" sz="1800" dirty="0">
                <a:solidFill>
                  <a:srgbClr val="505F6E"/>
                </a:solidFill>
              </a:rPr>
              <a:t> Kantor </a:t>
            </a:r>
            <a:r>
              <a:rPr lang="en-US" sz="1800" dirty="0" err="1" smtClean="0">
                <a:solidFill>
                  <a:srgbClr val="505F6E"/>
                </a:solidFill>
              </a:rPr>
              <a:t>Pusat</a:t>
            </a:r>
            <a:endParaRPr lang="en-US" sz="1800" dirty="0">
              <a:solidFill>
                <a:srgbClr val="505F6E"/>
              </a:solidFill>
            </a:endParaRPr>
          </a:p>
        </p:txBody>
      </p:sp>
      <p:cxnSp>
        <p:nvCxnSpPr>
          <p:cNvPr id="13" name="Straight Connector 12"/>
          <p:cNvCxnSpPr>
            <a:endCxn id="10" idx="3"/>
          </p:cNvCxnSpPr>
          <p:nvPr/>
        </p:nvCxnSpPr>
        <p:spPr>
          <a:xfrm>
            <a:off x="580030" y="822960"/>
            <a:ext cx="8106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750" y="1276066"/>
            <a:ext cx="5599207" cy="30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7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5146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/>
              <a:t>Pelaporan</a:t>
            </a:r>
            <a:r>
              <a:rPr lang="en-US" b="1" dirty="0"/>
              <a:t> &amp; </a:t>
            </a:r>
            <a:r>
              <a:rPr lang="en-US" b="1" dirty="0" err="1" smtClean="0"/>
              <a:t>Sertifikasi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7073" y="1276066"/>
            <a:ext cx="6230205" cy="4525963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 err="1" smtClean="0">
                <a:solidFill>
                  <a:srgbClr val="141E2D"/>
                </a:solidFill>
              </a:rPr>
              <a:t>Verifikasi</a:t>
            </a:r>
            <a:r>
              <a:rPr lang="en-US" sz="2400" b="1" dirty="0" smtClean="0">
                <a:solidFill>
                  <a:srgbClr val="141E2D"/>
                </a:solidFill>
              </a:rPr>
              <a:t> </a:t>
            </a:r>
            <a:r>
              <a:rPr lang="en-US" sz="2400" b="1" dirty="0" err="1">
                <a:solidFill>
                  <a:srgbClr val="141E2D"/>
                </a:solidFill>
              </a:rPr>
              <a:t>oleh</a:t>
            </a:r>
            <a:r>
              <a:rPr lang="en-US" sz="2400" b="1" dirty="0">
                <a:solidFill>
                  <a:srgbClr val="141E2D"/>
                </a:solidFill>
              </a:rPr>
              <a:t> </a:t>
            </a:r>
            <a:r>
              <a:rPr lang="en-US" sz="2400" b="1" dirty="0" smtClean="0">
                <a:solidFill>
                  <a:srgbClr val="141E2D"/>
                </a:solidFill>
              </a:rPr>
              <a:t>Supervisor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41E2D"/>
                </a:solidFill>
              </a:rPr>
              <a:t>	</a:t>
            </a:r>
            <a:r>
              <a:rPr lang="en-US" sz="1800" dirty="0" err="1" smtClean="0">
                <a:solidFill>
                  <a:srgbClr val="505F6E"/>
                </a:solidFill>
              </a:rPr>
              <a:t>Pemeriksaan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Uji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dan</a:t>
            </a:r>
            <a:r>
              <a:rPr lang="en-US" sz="1800" dirty="0">
                <a:solidFill>
                  <a:srgbClr val="505F6E"/>
                </a:solidFill>
              </a:rPr>
              <a:t> scoring </a:t>
            </a:r>
            <a:r>
              <a:rPr lang="en-US" sz="1800" dirty="0" err="1">
                <a:solidFill>
                  <a:srgbClr val="505F6E"/>
                </a:solidFill>
              </a:rPr>
              <a:t>oleh</a:t>
            </a:r>
            <a:r>
              <a:rPr lang="en-US" sz="1800" dirty="0">
                <a:solidFill>
                  <a:srgbClr val="505F6E"/>
                </a:solidFill>
              </a:rPr>
              <a:t> Senior </a:t>
            </a:r>
            <a:r>
              <a:rPr lang="en-US" sz="1800" dirty="0" err="1" smtClean="0">
                <a:solidFill>
                  <a:srgbClr val="505F6E"/>
                </a:solidFill>
              </a:rPr>
              <a:t>Uji</a:t>
            </a:r>
            <a:endParaRPr lang="en-US" sz="1800" dirty="0">
              <a:solidFill>
                <a:srgbClr val="505F6E"/>
              </a:solidFill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en-US" sz="2400" b="1" dirty="0" err="1" smtClean="0">
                <a:solidFill>
                  <a:srgbClr val="141E2D"/>
                </a:solidFill>
              </a:rPr>
              <a:t>Penanganan</a:t>
            </a:r>
            <a:r>
              <a:rPr lang="en-US" sz="2400" b="1" dirty="0" smtClean="0">
                <a:solidFill>
                  <a:srgbClr val="141E2D"/>
                </a:solidFill>
              </a:rPr>
              <a:t> </a:t>
            </a:r>
            <a:r>
              <a:rPr lang="en-US" sz="2400" b="1" dirty="0">
                <a:solidFill>
                  <a:srgbClr val="141E2D"/>
                </a:solidFill>
              </a:rPr>
              <a:t>Out of Spec (</a:t>
            </a:r>
            <a:r>
              <a:rPr lang="en-US" sz="2400" b="1" dirty="0" smtClean="0">
                <a:solidFill>
                  <a:srgbClr val="141E2D"/>
                </a:solidFill>
              </a:rPr>
              <a:t>OOS)</a:t>
            </a:r>
          </a:p>
          <a:p>
            <a:pPr marL="45085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41E2D"/>
                </a:solidFill>
              </a:rPr>
              <a:t>	</a:t>
            </a:r>
            <a:r>
              <a:rPr lang="en-US" sz="1800" dirty="0" err="1" smtClean="0">
                <a:solidFill>
                  <a:srgbClr val="505F6E"/>
                </a:solidFill>
              </a:rPr>
              <a:t>Pemicuan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alur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kerja</a:t>
            </a:r>
            <a:r>
              <a:rPr lang="en-US" sz="1800" dirty="0">
                <a:solidFill>
                  <a:srgbClr val="505F6E"/>
                </a:solidFill>
              </a:rPr>
              <a:t> re-test </a:t>
            </a:r>
            <a:r>
              <a:rPr lang="en-US" sz="1800" dirty="0" err="1">
                <a:solidFill>
                  <a:srgbClr val="505F6E"/>
                </a:solidFill>
              </a:rPr>
              <a:t>atau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investigasi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jika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ditemukan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ketidaksesuaian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smtClean="0">
                <a:solidFill>
                  <a:srgbClr val="505F6E"/>
                </a:solidFill>
              </a:rPr>
              <a:t>data</a:t>
            </a:r>
            <a:endParaRPr lang="en-US" sz="2400" dirty="0">
              <a:solidFill>
                <a:srgbClr val="505F6E"/>
              </a:solidFill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3"/>
            </a:pPr>
            <a:r>
              <a:rPr lang="en-US" sz="2400" b="1" dirty="0" err="1" smtClean="0">
                <a:solidFill>
                  <a:srgbClr val="141E2D"/>
                </a:solidFill>
              </a:rPr>
              <a:t>Kompilasi</a:t>
            </a:r>
            <a:r>
              <a:rPr lang="en-US" sz="2400" b="1" dirty="0" smtClean="0">
                <a:solidFill>
                  <a:srgbClr val="141E2D"/>
                </a:solidFill>
              </a:rPr>
              <a:t> </a:t>
            </a:r>
            <a:r>
              <a:rPr lang="en-US" sz="2400" b="1" dirty="0" err="1">
                <a:solidFill>
                  <a:srgbClr val="141E2D"/>
                </a:solidFill>
              </a:rPr>
              <a:t>Sertifikat</a:t>
            </a:r>
            <a:r>
              <a:rPr lang="en-US" sz="2400" b="1" dirty="0">
                <a:solidFill>
                  <a:srgbClr val="141E2D"/>
                </a:solidFill>
              </a:rPr>
              <a:t> </a:t>
            </a:r>
            <a:r>
              <a:rPr lang="en-US" sz="2400" b="1" dirty="0" err="1" smtClean="0">
                <a:solidFill>
                  <a:srgbClr val="141E2D"/>
                </a:solidFill>
              </a:rPr>
              <a:t>Hasil</a:t>
            </a:r>
            <a:endParaRPr lang="en-US" sz="2400" b="1" dirty="0" smtClean="0">
              <a:solidFill>
                <a:srgbClr val="141E2D"/>
              </a:solidFill>
            </a:endParaRPr>
          </a:p>
          <a:p>
            <a:pPr marL="450850" indent="-45085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41E2D"/>
                </a:solidFill>
              </a:rPr>
              <a:t>	</a:t>
            </a:r>
            <a:r>
              <a:rPr lang="en-US" sz="1800" dirty="0" err="1" smtClean="0">
                <a:solidFill>
                  <a:srgbClr val="505F6E"/>
                </a:solidFill>
              </a:rPr>
              <a:t>Penggabungan</a:t>
            </a:r>
            <a:r>
              <a:rPr lang="en-US" sz="1800" dirty="0" smtClean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seluruh</a:t>
            </a:r>
            <a:r>
              <a:rPr lang="en-US" sz="1800" dirty="0">
                <a:solidFill>
                  <a:srgbClr val="505F6E"/>
                </a:solidFill>
              </a:rPr>
              <a:t> parameter </a:t>
            </a:r>
            <a:r>
              <a:rPr lang="en-US" sz="1800" dirty="0" err="1">
                <a:solidFill>
                  <a:srgbClr val="505F6E"/>
                </a:solidFill>
              </a:rPr>
              <a:t>uji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ke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dalam</a:t>
            </a:r>
            <a:r>
              <a:rPr lang="en-US" sz="1800" dirty="0">
                <a:solidFill>
                  <a:srgbClr val="505F6E"/>
                </a:solidFill>
              </a:rPr>
              <a:t> template </a:t>
            </a:r>
            <a:r>
              <a:rPr lang="en-US" sz="1800" dirty="0" err="1">
                <a:solidFill>
                  <a:srgbClr val="505F6E"/>
                </a:solidFill>
              </a:rPr>
              <a:t>Laporan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Hasil</a:t>
            </a:r>
            <a:r>
              <a:rPr lang="en-US" sz="1800" dirty="0">
                <a:solidFill>
                  <a:srgbClr val="505F6E"/>
                </a:solidFill>
              </a:rPr>
              <a:t> </a:t>
            </a:r>
            <a:r>
              <a:rPr lang="en-US" sz="1800" dirty="0" err="1">
                <a:solidFill>
                  <a:srgbClr val="505F6E"/>
                </a:solidFill>
              </a:rPr>
              <a:t>Analisis</a:t>
            </a:r>
            <a:r>
              <a:rPr lang="en-US" sz="1800" dirty="0">
                <a:solidFill>
                  <a:srgbClr val="505F6E"/>
                </a:solidFill>
              </a:rPr>
              <a:t> (LHA</a:t>
            </a:r>
            <a:r>
              <a:rPr lang="en-US" sz="1800" dirty="0" smtClean="0">
                <a:solidFill>
                  <a:srgbClr val="505F6E"/>
                </a:solidFill>
              </a:rPr>
              <a:t>)</a:t>
            </a:r>
            <a:endParaRPr lang="en-US" sz="2400" dirty="0">
              <a:solidFill>
                <a:srgbClr val="505F6E"/>
              </a:solidFill>
            </a:endParaRPr>
          </a:p>
        </p:txBody>
      </p:sp>
      <p:cxnSp>
        <p:nvCxnSpPr>
          <p:cNvPr id="13" name="Straight Connector 12"/>
          <p:cNvCxnSpPr>
            <a:endCxn id="10" idx="3"/>
          </p:cNvCxnSpPr>
          <p:nvPr/>
        </p:nvCxnSpPr>
        <p:spPr>
          <a:xfrm>
            <a:off x="580030" y="822960"/>
            <a:ext cx="8106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179167"/>
            <a:ext cx="5620351" cy="306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4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266" y="1084997"/>
            <a:ext cx="5500251" cy="3000137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5146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/>
              <a:t>Penyerahan</a:t>
            </a:r>
            <a:r>
              <a:rPr lang="en-US" b="1" dirty="0"/>
              <a:t> </a:t>
            </a:r>
            <a:r>
              <a:rPr lang="en-US" b="1" dirty="0" err="1"/>
              <a:t>Sertifikat</a:t>
            </a:r>
            <a:r>
              <a:rPr lang="en-US" b="1" dirty="0"/>
              <a:t> &amp; Sample Test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80030" y="1084997"/>
            <a:ext cx="5602406" cy="4525963"/>
          </a:xfrm>
        </p:spPr>
        <p:txBody>
          <a:bodyPr/>
          <a:lstStyle/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sz="2400" b="1" dirty="0" err="1" smtClean="0">
                <a:solidFill>
                  <a:srgbClr val="141E2D"/>
                </a:solidFill>
              </a:rPr>
              <a:t>Penyerahan</a:t>
            </a:r>
            <a:r>
              <a:rPr lang="en-US" sz="2400" b="1" dirty="0" smtClean="0">
                <a:solidFill>
                  <a:srgbClr val="141E2D"/>
                </a:solidFill>
              </a:rPr>
              <a:t> </a:t>
            </a:r>
            <a:r>
              <a:rPr lang="en-US" sz="2400" b="1" dirty="0" err="1" smtClean="0">
                <a:solidFill>
                  <a:srgbClr val="141E2D"/>
                </a:solidFill>
              </a:rPr>
              <a:t>Sertifikat</a:t>
            </a:r>
            <a:endParaRPr lang="en-US" sz="2400" b="1" dirty="0" smtClean="0">
              <a:solidFill>
                <a:srgbClr val="141E2D"/>
              </a:solidFill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41E2D"/>
                </a:solidFill>
              </a:rPr>
              <a:t>	</a:t>
            </a:r>
            <a:r>
              <a:rPr lang="en-US" sz="1800" dirty="0" err="1" smtClean="0">
                <a:solidFill>
                  <a:srgbClr val="141E2D"/>
                </a:solidFill>
              </a:rPr>
              <a:t>Penyerahan</a:t>
            </a:r>
            <a:r>
              <a:rPr lang="en-US" sz="1800" dirty="0" smtClean="0">
                <a:solidFill>
                  <a:srgbClr val="141E2D"/>
                </a:solidFill>
              </a:rPr>
              <a:t> </a:t>
            </a:r>
            <a:r>
              <a:rPr lang="en-US" sz="1800" dirty="0" err="1">
                <a:solidFill>
                  <a:srgbClr val="141E2D"/>
                </a:solidFill>
              </a:rPr>
              <a:t>Sertifikat</a:t>
            </a:r>
            <a:r>
              <a:rPr lang="en-US" sz="1800" dirty="0">
                <a:solidFill>
                  <a:srgbClr val="141E2D"/>
                </a:solidFill>
              </a:rPr>
              <a:t> </a:t>
            </a:r>
            <a:r>
              <a:rPr lang="en-US" sz="1800" dirty="0" err="1">
                <a:solidFill>
                  <a:srgbClr val="141E2D"/>
                </a:solidFill>
              </a:rPr>
              <a:t>kepada</a:t>
            </a:r>
            <a:r>
              <a:rPr lang="en-US" sz="1800" dirty="0">
                <a:solidFill>
                  <a:srgbClr val="141E2D"/>
                </a:solidFill>
              </a:rPr>
              <a:t> </a:t>
            </a:r>
            <a:r>
              <a:rPr lang="en-US" sz="1800" dirty="0" err="1">
                <a:solidFill>
                  <a:srgbClr val="141E2D"/>
                </a:solidFill>
              </a:rPr>
              <a:t>Klien</a:t>
            </a:r>
            <a:endParaRPr lang="en-US" sz="1800" dirty="0">
              <a:solidFill>
                <a:srgbClr val="505F6E"/>
              </a:solidFill>
            </a:endParaRPr>
          </a:p>
          <a:p>
            <a:pPr marL="514350" indent="-514350">
              <a:spcAft>
                <a:spcPts val="1200"/>
              </a:spcAft>
              <a:buFont typeface="+mj-lt"/>
              <a:buAutoNum type="arabicPeriod" startAt="2"/>
            </a:pPr>
            <a:r>
              <a:rPr lang="en-US" sz="2400" b="1" dirty="0" err="1">
                <a:solidFill>
                  <a:srgbClr val="141E2D"/>
                </a:solidFill>
              </a:rPr>
              <a:t>Penyerahan</a:t>
            </a:r>
            <a:r>
              <a:rPr lang="en-US" sz="2400" b="1" dirty="0">
                <a:solidFill>
                  <a:srgbClr val="141E2D"/>
                </a:solidFill>
              </a:rPr>
              <a:t> </a:t>
            </a:r>
            <a:r>
              <a:rPr lang="en-US" sz="2400" b="1" dirty="0">
                <a:solidFill>
                  <a:srgbClr val="141E2D"/>
                </a:solidFill>
              </a:rPr>
              <a:t>Sample </a:t>
            </a:r>
            <a:r>
              <a:rPr lang="en-US" sz="2400" b="1" dirty="0">
                <a:solidFill>
                  <a:srgbClr val="141E2D"/>
                </a:solidFill>
              </a:rPr>
              <a:t>Test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b="1" dirty="0">
                <a:solidFill>
                  <a:srgbClr val="141E2D"/>
                </a:solidFill>
              </a:rPr>
              <a:t>	</a:t>
            </a:r>
            <a:r>
              <a:rPr lang="en-US" sz="1800" dirty="0" err="1">
                <a:solidFill>
                  <a:srgbClr val="141E2D"/>
                </a:solidFill>
              </a:rPr>
              <a:t>Serah</a:t>
            </a:r>
            <a:r>
              <a:rPr lang="en-US" sz="1800" dirty="0">
                <a:solidFill>
                  <a:srgbClr val="141E2D"/>
                </a:solidFill>
              </a:rPr>
              <a:t> </a:t>
            </a:r>
            <a:r>
              <a:rPr lang="en-US" sz="1800" dirty="0" err="1">
                <a:solidFill>
                  <a:srgbClr val="141E2D"/>
                </a:solidFill>
              </a:rPr>
              <a:t>Terima</a:t>
            </a:r>
            <a:r>
              <a:rPr lang="en-US" sz="1800" dirty="0">
                <a:solidFill>
                  <a:srgbClr val="141E2D"/>
                </a:solidFill>
              </a:rPr>
              <a:t> Sample Test </a:t>
            </a:r>
            <a:r>
              <a:rPr lang="en-US" sz="1800" dirty="0" err="1">
                <a:solidFill>
                  <a:srgbClr val="141E2D"/>
                </a:solidFill>
              </a:rPr>
              <a:t>kepada</a:t>
            </a:r>
            <a:r>
              <a:rPr lang="en-US" sz="1800" dirty="0">
                <a:solidFill>
                  <a:srgbClr val="141E2D"/>
                </a:solidFill>
              </a:rPr>
              <a:t> </a:t>
            </a:r>
            <a:r>
              <a:rPr lang="en-US" sz="1800" dirty="0" err="1">
                <a:solidFill>
                  <a:srgbClr val="141E2D"/>
                </a:solidFill>
              </a:rPr>
              <a:t>Klien</a:t>
            </a:r>
            <a:endParaRPr lang="en-US" sz="2400" dirty="0">
              <a:solidFill>
                <a:srgbClr val="141E2D"/>
              </a:solidFill>
            </a:endParaRPr>
          </a:p>
          <a:p>
            <a:endParaRPr lang="en-US" dirty="0"/>
          </a:p>
        </p:txBody>
      </p:sp>
      <p:cxnSp>
        <p:nvCxnSpPr>
          <p:cNvPr id="13" name="Straight Connector 12"/>
          <p:cNvCxnSpPr>
            <a:endCxn id="10" idx="3"/>
          </p:cNvCxnSpPr>
          <p:nvPr/>
        </p:nvCxnSpPr>
        <p:spPr>
          <a:xfrm>
            <a:off x="580030" y="822960"/>
            <a:ext cx="8106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023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228</Words>
  <Application>Microsoft Office PowerPoint</Application>
  <PresentationFormat>Custom</PresentationFormat>
  <Paragraphs>56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Fitur LIMS </vt:lpstr>
      <vt:lpstr>Register LIMS &amp; Barcode </vt:lpstr>
      <vt:lpstr>Perencanaan Pengujian LIMS </vt:lpstr>
      <vt:lpstr>Pelaksanaan Pengujian LIMS </vt:lpstr>
      <vt:lpstr>Analisa Data </vt:lpstr>
      <vt:lpstr>Pelaporan &amp; Sertifikasi </vt:lpstr>
      <vt:lpstr>Penyerahan Sertifikat &amp; Sample Test 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27</cp:revision>
  <dcterms:created xsi:type="dcterms:W3CDTF">2013-01-27T09:14:16Z</dcterms:created>
  <dcterms:modified xsi:type="dcterms:W3CDTF">2026-09-04T03:20:52Z</dcterms:modified>
  <cp:category/>
</cp:coreProperties>
</file>