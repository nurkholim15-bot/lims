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1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Register LIMS &amp; Barcode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1: Pengumpulan &amp; Perencanaan Sampel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Pencatatan Sampel Masuk
</a:t>
            </a:r>
            <a:r>
              <a:rPr sz="1100">
                <a:solidFill>
                  <a:srgbClr val="505F6E"/>
                </a:solidFill>
              </a:rPr>
              <a:t>   Registrasi sampel ke sistem LIMS lengkap dengan informasi metadata penerimaan.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Penjanaan Barcode Unik
</a:t>
            </a:r>
            <a:r>
              <a:rPr sz="1100">
                <a:solidFill>
                  <a:srgbClr val="505F6E"/>
                </a:solidFill>
              </a:rPr>
              <a:t>   Sistem mencetak label barcode unik untuk penempelan pada wadah sampel.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Pencatatan Identitas Pengirim
</a:t>
            </a:r>
            <a:r>
              <a:rPr sz="1100">
                <a:solidFill>
                  <a:srgbClr val="505F6E"/>
                </a:solidFill>
              </a:rPr>
              <a:t>   Identitas pengirim, tanggal terima, dan kondisi fisik sampel tercatat otomatis.</a:t>
            </a:r>
          </a:p>
        </p:txBody>
      </p:sp>
      <p:pic>
        <p:nvPicPr>
          <p:cNvPr id="6" name="Picture 5" descr="step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2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Alokasi &amp; Distribusi Sampel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1: Pengumpulan &amp; Perencanaan Sampel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Penentuan Parameter Uji
</a:t>
            </a:r>
            <a:r>
              <a:rPr sz="1100">
                <a:solidFill>
                  <a:srgbClr val="505F6E"/>
                </a:solidFill>
              </a:rPr>
              <a:t>   Sistem memetakan sampel ke jenis pengujian yang diperlukan sesuai permintaan.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Pembagian Alikot Sampel
</a:t>
            </a:r>
            <a:r>
              <a:rPr sz="1100">
                <a:solidFill>
                  <a:srgbClr val="505F6E"/>
                </a:solidFill>
              </a:rPr>
              <a:t>   Sampel dibagi ke dalam beberapa wadah kecil (alikot) jika membutuhkan beberapa lab/alat.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Penjadwalan Kerja (Worklist)
</a:t>
            </a:r>
            <a:r>
              <a:rPr sz="1100">
                <a:solidFill>
                  <a:srgbClr val="505F6E"/>
                </a:solidFill>
              </a:rPr>
              <a:t>   Sampel secara otomatis masuk ke antrean kerja analis atau instrumen terkait.</a:t>
            </a:r>
          </a:p>
        </p:txBody>
      </p:sp>
      <p:pic>
        <p:nvPicPr>
          <p:cNvPr id="6" name="Picture 5" descr="step_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3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Preparation &amp; Extraction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1: Pengumpulan &amp; Perencanaan Sampel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Verifikasi Sampel Pra-Uji
</a:t>
            </a:r>
            <a:r>
              <a:rPr sz="1100">
                <a:solidFill>
                  <a:srgbClr val="505F6E"/>
                </a:solidFill>
              </a:rPr>
              <a:t>   Analis melakukan pemindaian barcode sampel untuk mengonfirmasi kesiapan preparasi.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Proses Penyiapan Kimia/Fisik
</a:t>
            </a:r>
            <a:r>
              <a:rPr sz="1100">
                <a:solidFill>
                  <a:srgbClr val="505F6E"/>
                </a:solidFill>
              </a:rPr>
              <a:t>   Ekstraksi, destruksi, atau pelarutan sampel sesuai standar operasional prosedur (SOP).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Pencatatan Reagen &amp; Matriks
</a:t>
            </a:r>
            <a:r>
              <a:rPr sz="1100">
                <a:solidFill>
                  <a:srgbClr val="505F6E"/>
                </a:solidFill>
              </a:rPr>
              <a:t>   Input otomatis konsumsi bahan kimia, lot number, dan tanggal kadaluarsa reagen.</a:t>
            </a:r>
          </a:p>
        </p:txBody>
      </p:sp>
      <p:pic>
        <p:nvPicPr>
          <p:cNvPr id="6" name="Picture 5" descr="step_3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4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Batching &amp; QC Blank/Spike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2: Eksekusi Pengujian Laboratorium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Pengelompokan Run (Batching)
</a:t>
            </a:r>
            <a:r>
              <a:rPr sz="1100">
                <a:solidFill>
                  <a:srgbClr val="505F6E"/>
                </a:solidFill>
              </a:rPr>
              <a:t>   Pengelompokan beberapa sampel ke dalam satu run pengujian agar efisien.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Inserksi QC Control
</a:t>
            </a:r>
            <a:r>
              <a:rPr sz="1100">
                <a:solidFill>
                  <a:srgbClr val="505F6E"/>
                </a:solidFill>
              </a:rPr>
              <a:t>   Penambahan sampel kontrol untuk penjaminan mutu.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Validasi Antrean Uji
</a:t>
            </a:r>
            <a:r>
              <a:rPr sz="1100">
                <a:solidFill>
                  <a:srgbClr val="505F6E"/>
                </a:solidFill>
              </a:rPr>
              <a:t>   Sistem memvalidasi urutan posisi sampel sebelum dimasukkan ke dalam alat analit.</a:t>
            </a:r>
          </a:p>
        </p:txBody>
      </p:sp>
      <p:pic>
        <p:nvPicPr>
          <p:cNvPr id="6" name="Picture 5" descr="step_4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5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Instrument Interfacing &amp; Data Capture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2: Eksekusi Pengujian Laboratorium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Direct Instrument Interfacing
</a:t>
            </a:r>
            <a:r>
              <a:rPr sz="1100">
                <a:solidFill>
                  <a:srgbClr val="505F6E"/>
                </a:solidFill>
              </a:rPr>
              <a:t>   Penyerapan data hasil otomatis dari alat analit (HPLC, GC, Spektro) ke LIMS.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Logging Kondisi Lingkungan
</a:t>
            </a:r>
            <a:r>
              <a:rPr sz="1100">
                <a:solidFill>
                  <a:srgbClr val="505F6E"/>
                </a:solidFill>
              </a:rPr>
              <a:t>   Pencatatan suhu dan kelembaban ruang lab secara real-time saat pengujian.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Reduksi Risiko Human Error
</a:t>
            </a:r>
            <a:r>
              <a:rPr sz="1100">
                <a:solidFill>
                  <a:srgbClr val="505F6E"/>
                </a:solidFill>
              </a:rPr>
              <a:t>   Mengeliminasi ketik manual angka hasil dari layar alat ke lembar kerja.</a:t>
            </a:r>
          </a:p>
        </p:txBody>
      </p:sp>
      <p:pic>
        <p:nvPicPr>
          <p:cNvPr id="6" name="Picture 5" descr="step_5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6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Kalkulasi Hasil &amp; Auto-Validation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2: Eksekusi Pengujian Laboratorium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Kalkulasi Formula Otomatis
</a:t>
            </a:r>
            <a:r>
              <a:rPr sz="1100">
                <a:solidFill>
                  <a:srgbClr val="505F6E"/>
                </a:solidFill>
              </a:rPr>
              <a:t>   Perhitungan konsentrasi, faktor pengenceran, dan konversi unit berbasis rumus LIMS.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Evaluasi QC Curve
</a:t>
            </a:r>
            <a:r>
              <a:rPr sz="1100">
                <a:solidFill>
                  <a:srgbClr val="505F6E"/>
                </a:solidFill>
              </a:rPr>
              <a:t>   Pembacaan kurva kalibrasi dan batas keberhasilan QC sampel secara presisi.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Flagging Limit Spesifikasi
</a:t>
            </a:r>
            <a:r>
              <a:rPr sz="1100">
                <a:solidFill>
                  <a:srgbClr val="505F6E"/>
                </a:solidFill>
              </a:rPr>
              <a:t>   Sistem menandai secara otomatis hasil yang Out of Specification (OOS).</a:t>
            </a:r>
          </a:p>
        </p:txBody>
      </p:sp>
      <p:pic>
        <p:nvPicPr>
          <p:cNvPr id="6" name="Picture 5" descr="step_6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7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Technical Review &amp; Peer Approval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3: Validasi &amp; Pelaporan Hasil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Verifikasi oleh Supervisor
</a:t>
            </a:r>
            <a:r>
              <a:rPr sz="1100">
                <a:solidFill>
                  <a:srgbClr val="505F6E"/>
                </a:solidFill>
              </a:rPr>
              <a:t>   Pemeriksaan kembali kurva, nilai r-square, dan keabsahan prosedur oleh Senior Uji.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Penanganan Out of Spec (OOS)
</a:t>
            </a:r>
            <a:r>
              <a:rPr sz="1100">
                <a:solidFill>
                  <a:srgbClr val="505F6E"/>
                </a:solidFill>
              </a:rPr>
              <a:t>   Pemicuan alur kerja re-test atau investigasi jika ditemukan ketidaksesuaian data.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Otorisasi Tingkat Pertama
</a:t>
            </a:r>
            <a:r>
              <a:rPr sz="1100">
                <a:solidFill>
                  <a:srgbClr val="505F6E"/>
                </a:solidFill>
              </a:rPr>
              <a:t>   Persetujuan teknis (technical sign-off) sebelum data diteruskan ke penyusun LHA.</a:t>
            </a:r>
          </a:p>
        </p:txBody>
      </p:sp>
      <p:pic>
        <p:nvPicPr>
          <p:cNvPr id="6" name="Picture 5" descr="step_7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8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Penerbitan LHA / COA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3: Validasi &amp; Pelaporan Hasil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Kompilasi Sertifikat Hasil
</a:t>
            </a:r>
            <a:r>
              <a:rPr sz="1100">
                <a:solidFill>
                  <a:srgbClr val="505F6E"/>
                </a:solidFill>
              </a:rPr>
              <a:t>   Penggabungan seluruh parameter uji ke dalam template Laporan Hasil Analisis (LHA).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Digital Signature Manager
</a:t>
            </a:r>
            <a:r>
              <a:rPr sz="1100">
                <a:solidFill>
                  <a:srgbClr val="505F6E"/>
                </a:solidFill>
              </a:rPr>
              <a:t>   Penandatanganan dokumen secara digital berenkripsi oleh Manajer Mutu/Lab.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Penguncian Data (Data Locking)
</a:t>
            </a:r>
            <a:r>
              <a:rPr sz="1100">
                <a:solidFill>
                  <a:srgbClr val="505F6E"/>
                </a:solidFill>
              </a:rPr>
              <a:t>   Pembekuan rekam medis uji agar tidak dapat diubah tanpa izin revisi khusus.</a:t>
            </a:r>
          </a:p>
        </p:txBody>
      </p:sp>
      <p:pic>
        <p:nvPicPr>
          <p:cNvPr id="6" name="Picture 5" descr="step_8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PROSES STEP 9 DARI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1E2D"/>
                </a:solidFill>
              </a:defRPr>
            </a:pPr>
            <a:r>
              <a:t>Archiving &amp; Sample Retention</a:t>
            </a:r>
          </a:p>
          <a:p>
            <a:pPr>
              <a:defRPr sz="1300">
                <a:solidFill>
                  <a:srgbClr val="0E7490"/>
                </a:solidFill>
              </a:defRPr>
            </a:pPr>
            <a:r>
              <a:t>Tahap 3: Validasi &amp; Pelaporan Hasil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1. Pengiriman LHA ke Klien
</a:t>
            </a:r>
            <a:r>
              <a:rPr sz="1100">
                <a:solidFill>
                  <a:srgbClr val="505F6E"/>
                </a:solidFill>
              </a:rPr>
              <a:t>   Dokumen dikirim otomatis via portal pelanggan, e-mail, atau integrasi sistem API.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2. Manajemen Retensi Sampel
</a:t>
            </a:r>
            <a:r>
              <a:rPr sz="1100">
                <a:solidFill>
                  <a:srgbClr val="505F6E"/>
                </a:solidFill>
              </a:rPr>
              <a:t>   Penyimpanan sisa sampel di cold storage dengan jadwal pemusnahan otomatis.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41E2D"/>
                </a:solidFill>
              </a:rPr>
              <a:t>3. Arsip Audit Trail
</a:t>
            </a:r>
            <a:r>
              <a:rPr sz="1100">
                <a:solidFill>
                  <a:srgbClr val="505F6E"/>
                </a:solidFill>
              </a:rPr>
              <a:t>   Penyimpanan seluruh jejak aktivitas pengguna dan log data untuk kebutuhan akreditasi.</a:t>
            </a:r>
          </a:p>
        </p:txBody>
      </p:sp>
      <p:pic>
        <p:nvPicPr>
          <p:cNvPr id="6" name="Picture 5" descr="step_9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